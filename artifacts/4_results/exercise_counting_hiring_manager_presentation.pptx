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1999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igure_5_routed_architecture.sv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igure_2_architecture_mae_heatmap.sv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igure_1_routed_performance_ci.sv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igure_3_mae_within1_tradeoff.sv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igure_4_per_exercise_mae_comparison.sv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" name="Main Title"/>
          <p:cNvSpPr txBox="1"/>
          <p:nvPr/>
        </p:nvSpPr>
        <p:spPr>
          <a:xfrm>
            <a:off x="749808" y="914400"/>
            <a:ext cx="9784080" cy="9601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3400" b="1">
                <a:solidFill>
                  <a:srgbClr val="17212B"/>
                </a:solidFill>
                <a:latin typeface="Aptos"/>
              </a:rPr>
              <a:t>Exercise Repetition Counting From Video</a:t>
            </a:r>
            <a:endParaRPr lang="en-US" sz="3400"/>
          </a:p>
        </p:txBody>
      </p:sp>
      <p:sp>
        <p:nvSpPr>
          <p:cNvPr id="3" name="Subtitle"/>
          <p:cNvSpPr txBox="1"/>
          <p:nvPr/>
        </p:nvSpPr>
        <p:spPr>
          <a:xfrm>
            <a:off x="804672" y="1883664"/>
            <a:ext cx="90982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000">
                <a:solidFill>
                  <a:srgbClr val="52606D"/>
                </a:solidFill>
                <a:latin typeface="Aptos"/>
              </a:rPr>
              <a:t>Pose, RGB, temporal modeling, and exercise-dependent routing</a:t>
            </a:r>
            <a:endParaRPr lang="en-US" sz="2000"/>
          </a:p>
        </p:txBody>
      </p:sp>
      <p:sp>
        <p:nvSpPr>
          <p:cNvPr id="4" name="Problem"/>
          <p:cNvSpPr txBox="1"/>
          <p:nvPr/>
        </p:nvSpPr>
        <p:spPr>
          <a:xfrm>
            <a:off x="822960" y="2788920"/>
            <a:ext cx="3291840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500" b="1">
                <a:solidFill>
                  <a:srgbClr val="17212B"/>
                </a:solidFill>
                <a:latin typeface="Aptos"/>
              </a:rPr>
              <a:t>Problem</a:t>
            </a:r>
            <a:endParaRPr lang="en-US" sz="1500"/>
          </a:p>
          <a:p>
            <a:pPr/>
            <a:r>
              <a:rPr lang="en-US" sz="1100">
                <a:solidFill>
                  <a:srgbClr val="52606D"/>
                </a:solidFill>
                <a:latin typeface="Aptos"/>
              </a:rPr>
              <a:t>Count repetitions directly from workout videos.</a:t>
            </a:r>
            <a:endParaRPr lang="en-US" sz="1100"/>
          </a:p>
        </p:txBody>
      </p:sp>
      <p:sp>
        <p:nvSpPr>
          <p:cNvPr id="5" name="Approach"/>
          <p:cNvSpPr txBox="1"/>
          <p:nvPr/>
        </p:nvSpPr>
        <p:spPr>
          <a:xfrm>
            <a:off x="4434840" y="2788920"/>
            <a:ext cx="3291840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500" b="1">
                <a:solidFill>
                  <a:srgbClr val="17212B"/>
                </a:solidFill>
                <a:latin typeface="Aptos"/>
              </a:rPr>
              <a:t>Approach</a:t>
            </a:r>
            <a:endParaRPr lang="en-US" sz="1500"/>
          </a:p>
          <a:p>
            <a:pPr/>
            <a:r>
              <a:rPr lang="en-US" sz="1100">
                <a:solidFill>
                  <a:srgbClr val="52606D"/>
                </a:solidFill>
                <a:latin typeface="Aptos"/>
              </a:rPr>
              <a:t>Compare pose, RGB, FSM, TCN, Transformer, and fusion branches.</a:t>
            </a:r>
            <a:endParaRPr lang="en-US" sz="1100"/>
          </a:p>
        </p:txBody>
      </p:sp>
      <p:sp>
        <p:nvSpPr>
          <p:cNvPr id="6" name="Outcome"/>
          <p:cNvSpPr txBox="1"/>
          <p:nvPr/>
        </p:nvSpPr>
        <p:spPr>
          <a:xfrm>
            <a:off x="8046720" y="2788920"/>
            <a:ext cx="3291840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500" b="1">
                <a:solidFill>
                  <a:srgbClr val="17212B"/>
                </a:solidFill>
                <a:latin typeface="Aptos"/>
              </a:rPr>
              <a:t>Outcome</a:t>
            </a:r>
            <a:endParaRPr lang="en-US" sz="1500"/>
          </a:p>
          <a:p>
            <a:pPr/>
            <a:r>
              <a:rPr lang="en-US" sz="1100">
                <a:solidFill>
                  <a:srgbClr val="52606D"/>
                </a:solidFill>
                <a:latin typeface="Aptos"/>
              </a:rPr>
              <a:t>Routed architecture plus a squat runtime prototype.</a:t>
            </a:r>
            <a:endParaRPr lang="en-US" sz="1100"/>
          </a:p>
        </p:txBody>
      </p:sp>
      <p:sp>
        <p:nvSpPr>
          <p:cNvPr id="7" name="Footer"/>
          <p:cNvSpPr txBox="1"/>
          <p:nvPr/>
        </p:nvSpPr>
        <p:spPr>
          <a:xfrm>
            <a:off x="822960" y="6016752"/>
            <a:ext cx="7955279" cy="292608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Computer Vision Final Project | Hiring-manager presentation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Title"/>
          <p:cNvSpPr txBox="1"/>
          <p:nvPr/>
        </p:nvSpPr>
        <p:spPr>
          <a:xfrm>
            <a:off x="502920" y="256032"/>
            <a:ext cx="106984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700" b="1">
                <a:solidFill>
                  <a:srgbClr val="17212B"/>
                </a:solidFill>
                <a:latin typeface="Aptos"/>
              </a:rPr>
              <a:t>Presentation Flow</a:t>
            </a:r>
            <a:endParaRPr lang="en-US" sz="2700"/>
          </a:p>
        </p:txBody>
      </p:sp>
      <p:sp>
        <p:nvSpPr>
          <p:cNvPr id="2" name="Slide Subtitle"/>
          <p:cNvSpPr txBox="1"/>
          <p:nvPr/>
        </p:nvSpPr>
        <p:spPr>
          <a:xfrm>
            <a:off x="521207" y="749808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Four speakers, one end-to-end computer vision story.</a:t>
            </a:r>
            <a:endParaRPr lang="en-US" sz="1200"/>
          </a:p>
        </p:txBody>
      </p:sp>
      <p:sp>
        <p:nvSpPr>
          <p:cNvPr id="3" name="Divider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4" name="Member 1"/>
          <p:cNvSpPr txBox="1"/>
          <p:nvPr/>
        </p:nvSpPr>
        <p:spPr>
          <a:xfrm>
            <a:off x="685800" y="1481328"/>
            <a:ext cx="2606040" cy="288036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500" b="1">
                <a:solidFill>
                  <a:srgbClr val="17212B"/>
                </a:solidFill>
                <a:latin typeface="Aptos"/>
              </a:rPr>
              <a:t>Member 1</a:t>
            </a:r>
            <a:endParaRPr lang="en-US" sz="1500"/>
          </a:p>
          <a:p>
            <a:pPr/>
            <a:r>
              <a:rPr lang="en-US" sz="1100">
                <a:solidFill>
                  <a:srgbClr val="52606D"/>
                </a:solidFill>
                <a:latin typeface="Aptos"/>
              </a:rPr>
              <a:t>Problem and motivation: why exercise counting is useful and difficult.</a:t>
            </a:r>
            <a:endParaRPr lang="en-US" sz="1100"/>
          </a:p>
        </p:txBody>
      </p:sp>
      <p:sp>
        <p:nvSpPr>
          <p:cNvPr id="5" name="Member 2"/>
          <p:cNvSpPr txBox="1"/>
          <p:nvPr/>
        </p:nvSpPr>
        <p:spPr>
          <a:xfrm>
            <a:off x="3520440" y="1481328"/>
            <a:ext cx="2606040" cy="2880360"/>
          </a:xfrm>
          <a:prstGeom prst="roundRect">
            <a:avLst/>
          </a:prstGeom>
          <a:solidFill>
            <a:srgbClr val="EAF8EE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500" b="1">
                <a:solidFill>
                  <a:srgbClr val="17212B"/>
                </a:solidFill>
                <a:latin typeface="Aptos"/>
              </a:rPr>
              <a:t>Member 2</a:t>
            </a:r>
            <a:endParaRPr lang="en-US" sz="1500"/>
          </a:p>
          <a:p>
            <a:pPr/>
            <a:r>
              <a:rPr lang="en-US" sz="1100">
                <a:solidFill>
                  <a:srgbClr val="52606D"/>
                </a:solidFill>
                <a:latin typeface="Aptos"/>
              </a:rPr>
              <a:t>Approach and system design: pose, RGB, TCN, FSM, and routed architecture.</a:t>
            </a:r>
            <a:endParaRPr lang="en-US" sz="1100"/>
          </a:p>
        </p:txBody>
      </p:sp>
      <p:sp>
        <p:nvSpPr>
          <p:cNvPr id="6" name="Member 3"/>
          <p:cNvSpPr txBox="1"/>
          <p:nvPr/>
        </p:nvSpPr>
        <p:spPr>
          <a:xfrm>
            <a:off x="6355080" y="1481328"/>
            <a:ext cx="2606040" cy="2880360"/>
          </a:xfrm>
          <a:prstGeom prst="roundRect">
            <a:avLst/>
          </a:prstGeom>
          <a:solidFill>
            <a:srgbClr val="FFF1F3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500" b="1">
                <a:solidFill>
                  <a:srgbClr val="17212B"/>
                </a:solidFill>
                <a:latin typeface="Aptos"/>
              </a:rPr>
              <a:t>Member 3</a:t>
            </a:r>
            <a:endParaRPr lang="en-US" sz="1500"/>
          </a:p>
          <a:p>
            <a:pPr/>
            <a:r>
              <a:rPr lang="en-US" sz="1100">
                <a:solidFill>
                  <a:srgbClr val="52606D"/>
                </a:solidFill>
                <a:latin typeface="Aptos"/>
              </a:rPr>
              <a:t>Demo: squat runtime path and implementation flow.</a:t>
            </a:r>
            <a:endParaRPr lang="en-US" sz="1100"/>
          </a:p>
        </p:txBody>
      </p:sp>
      <p:sp>
        <p:nvSpPr>
          <p:cNvPr id="7" name="Member 4"/>
          <p:cNvSpPr txBox="1"/>
          <p:nvPr/>
        </p:nvSpPr>
        <p:spPr>
          <a:xfrm>
            <a:off x="9189720" y="1481328"/>
            <a:ext cx="2606040" cy="288036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500" b="1">
                <a:solidFill>
                  <a:srgbClr val="17212B"/>
                </a:solidFill>
                <a:latin typeface="Aptos"/>
              </a:rPr>
              <a:t>Member 4</a:t>
            </a:r>
            <a:endParaRPr lang="en-US" sz="1500"/>
          </a:p>
          <a:p>
            <a:pPr/>
            <a:r>
              <a:rPr lang="en-US" sz="1100">
                <a:solidFill>
                  <a:srgbClr val="52606D"/>
                </a:solidFill>
                <a:latin typeface="Aptos"/>
              </a:rPr>
              <a:t>Results, challenges, lessons learned, and closing takeaway.</a:t>
            </a:r>
            <a:endParaRPr lang="en-US" sz="1100"/>
          </a:p>
        </p:txBody>
      </p:sp>
      <p:sp>
        <p:nvSpPr>
          <p:cNvPr id="8" name="Framing"/>
          <p:cNvSpPr txBox="1"/>
          <p:nvPr/>
        </p:nvSpPr>
        <p:spPr>
          <a:xfrm>
            <a:off x="1005840" y="4983480"/>
            <a:ext cx="10241280" cy="64008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700">
                <a:solidFill>
                  <a:srgbClr val="17212B"/>
                </a:solidFill>
                <a:latin typeface="Aptos"/>
              </a:rPr>
              <a:t>Hiring-manager framing: focus on clear problem definition, evidence-driven architecture decisions, implementation maturity, and honest evaluation.</a:t>
            </a:r>
            <a:endParaRPr lang="en-US" sz="1700"/>
          </a:p>
        </p:txBody>
      </p:sp>
      <p:sp>
        <p:nvSpPr>
          <p:cNvPr id="9" name="Footer Left"/>
          <p:cNvSpPr txBox="1"/>
          <p:nvPr/>
        </p:nvSpPr>
        <p:spPr>
          <a:xfrm>
            <a:off x="502920" y="6446520"/>
            <a:ext cx="45720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Speaker: Team</a:t>
            </a:r>
            <a:endParaRPr lang="en-US" sz="900"/>
          </a:p>
        </p:txBody>
      </p:sp>
      <p:sp>
        <p:nvSpPr>
          <p:cNvPr id="10" name="Footer Right"/>
          <p:cNvSpPr txBox="1"/>
          <p:nvPr/>
        </p:nvSpPr>
        <p:spPr>
          <a:xfrm>
            <a:off x="6446520" y="6446520"/>
            <a:ext cx="52578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Exercise Repetition Counting from Video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Title"/>
          <p:cNvSpPr txBox="1"/>
          <p:nvPr/>
        </p:nvSpPr>
        <p:spPr>
          <a:xfrm>
            <a:off x="502920" y="256032"/>
            <a:ext cx="106984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700" b="1">
                <a:solidFill>
                  <a:srgbClr val="17212B"/>
                </a:solidFill>
                <a:latin typeface="Aptos"/>
              </a:rPr>
              <a:t>Problem And Motivation</a:t>
            </a:r>
            <a:endParaRPr lang="en-US" sz="2700"/>
          </a:p>
        </p:txBody>
      </p:sp>
      <p:sp>
        <p:nvSpPr>
          <p:cNvPr id="2" name="Slide Subtitle"/>
          <p:cNvSpPr txBox="1"/>
          <p:nvPr/>
        </p:nvSpPr>
        <p:spPr>
          <a:xfrm>
            <a:off x="521207" y="749808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Estimate completed exercise repetitions from ordinary workout videos.</a:t>
            </a:r>
            <a:endParaRPr lang="en-US" sz="1200"/>
          </a:p>
        </p:txBody>
      </p:sp>
      <p:sp>
        <p:nvSpPr>
          <p:cNvPr id="3" name="Divider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4" name="Problem Text"/>
          <p:cNvSpPr txBox="1"/>
          <p:nvPr/>
        </p:nvSpPr>
        <p:spPr>
          <a:xfrm>
            <a:off x="777240" y="1417320"/>
            <a:ext cx="5486400" cy="3931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800" b="1">
                <a:solidFill>
                  <a:srgbClr val="17212B"/>
                </a:solidFill>
                <a:latin typeface="Aptos"/>
              </a:rPr>
              <a:t>Why it matters</a:t>
            </a:r>
            <a:endParaRPr lang="en-US" sz="1800"/>
          </a:p>
          <a:p>
            <a:pPr/>
            <a:r>
              <a:rPr lang="en-US" sz="1500">
                <a:solidFill>
                  <a:srgbClr val="52606D"/>
                </a:solidFill>
                <a:latin typeface="Aptos"/>
              </a:rPr>
              <a:t>Fitness coaching, physical therapy tracking, remote training, and workout analytics need reliable rep counts.</a:t>
            </a:r>
            <a:endParaRPr lang="en-US" sz="1500"/>
          </a:p>
          <a:p>
            <a:pPr/>
            <a:r>
              <a:rPr lang="en-US" sz="1800" b="1">
                <a:solidFill>
                  <a:srgbClr val="17212B"/>
                </a:solidFill>
                <a:latin typeface="Aptos"/>
              </a:rPr>
              <a:t>What makes it hard</a:t>
            </a:r>
            <a:endParaRPr lang="en-US" sz="1800"/>
          </a:p>
          <a:p>
            <a:pPr/>
            <a:r>
              <a:rPr lang="en-US" sz="1500">
                <a:solidFill>
                  <a:srgbClr val="52606D"/>
                </a:solidFill>
                <a:latin typeface="Aptos"/>
              </a:rPr>
              <a:t>Viewpoint, scale, lighting, occlusion, body motion, and exercise-specific biomechanics change the visual signal.</a:t>
            </a:r>
            <a:endParaRPr lang="en-US" sz="1500"/>
          </a:p>
          <a:p>
            <a:pPr/>
            <a:r>
              <a:rPr lang="en-US" sz="1800" b="1">
                <a:solidFill>
                  <a:srgbClr val="17212B"/>
                </a:solidFill>
                <a:latin typeface="Aptos"/>
              </a:rPr>
              <a:t>Engineering goal</a:t>
            </a:r>
            <a:endParaRPr lang="en-US" sz="1800"/>
          </a:p>
          <a:p>
            <a:pPr/>
            <a:r>
              <a:rPr lang="en-US" sz="1500">
                <a:solidFill>
                  <a:srgbClr val="52606D"/>
                </a:solidFill>
                <a:latin typeface="Aptos"/>
              </a:rPr>
              <a:t>Find which representation works best per exercise instead of forcing one universal model.</a:t>
            </a:r>
            <a:endParaRPr lang="en-US" sz="1500"/>
          </a:p>
        </p:txBody>
      </p:sp>
      <p:sp>
        <p:nvSpPr>
          <p:cNvPr id="5" name="Input"/>
          <p:cNvSpPr txBox="1"/>
          <p:nvPr/>
        </p:nvSpPr>
        <p:spPr>
          <a:xfrm>
            <a:off x="6858000" y="1554480"/>
            <a:ext cx="3383280" cy="960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4477AA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200" b="1">
                <a:solidFill>
                  <a:srgbClr val="52606D"/>
                </a:solidFill>
                <a:latin typeface="Aptos"/>
              </a:rPr>
              <a:t>Input</a:t>
            </a:r>
            <a:endParaRPr lang="en-US" sz="1200"/>
          </a:p>
          <a:p>
            <a:pPr/>
            <a:r>
              <a:rPr lang="en-US" sz="2400" b="1">
                <a:solidFill>
                  <a:srgbClr val="4477AA"/>
                </a:solidFill>
                <a:latin typeface="Aptos"/>
              </a:rPr>
              <a:t>Video</a:t>
            </a:r>
            <a:endParaRPr lang="en-US" sz="24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No wearable sensor required</a:t>
            </a:r>
            <a:endParaRPr lang="en-US" sz="1000"/>
          </a:p>
        </p:txBody>
      </p:sp>
      <p:sp>
        <p:nvSpPr>
          <p:cNvPr id="6" name="Output"/>
          <p:cNvSpPr txBox="1"/>
          <p:nvPr/>
        </p:nvSpPr>
        <p:spPr>
          <a:xfrm>
            <a:off x="6858000" y="2743200"/>
            <a:ext cx="3383280" cy="960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228833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200" b="1">
                <a:solidFill>
                  <a:srgbClr val="52606D"/>
                </a:solidFill>
                <a:latin typeface="Aptos"/>
              </a:rPr>
              <a:t>Output</a:t>
            </a:r>
            <a:endParaRPr lang="en-US" sz="1200"/>
          </a:p>
          <a:p>
            <a:pPr/>
            <a:r>
              <a:rPr lang="en-US" sz="2400" b="1">
                <a:solidFill>
                  <a:srgbClr val="228833"/>
                </a:solidFill>
                <a:latin typeface="Aptos"/>
              </a:rPr>
              <a:t>Count</a:t>
            </a:r>
            <a:endParaRPr lang="en-US" sz="24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Scalar repetition estimate</a:t>
            </a:r>
            <a:endParaRPr lang="en-US" sz="1000"/>
          </a:p>
        </p:txBody>
      </p:sp>
      <p:sp>
        <p:nvSpPr>
          <p:cNvPr id="7" name="Evaluation"/>
          <p:cNvSpPr txBox="1"/>
          <p:nvPr/>
        </p:nvSpPr>
        <p:spPr>
          <a:xfrm>
            <a:off x="6858000" y="3931920"/>
            <a:ext cx="3383280" cy="960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C6677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200" b="1">
                <a:solidFill>
                  <a:srgbClr val="52606D"/>
                </a:solidFill>
                <a:latin typeface="Aptos"/>
              </a:rPr>
              <a:t>Evaluation</a:t>
            </a:r>
            <a:endParaRPr lang="en-US" sz="1200"/>
          </a:p>
          <a:p>
            <a:pPr/>
            <a:r>
              <a:rPr lang="en-US" sz="2400" b="1">
                <a:solidFill>
                  <a:srgbClr val="CC6677"/>
                </a:solidFill>
                <a:latin typeface="Aptos"/>
              </a:rPr>
              <a:t>MAE + Within-1</a:t>
            </a:r>
            <a:endParaRPr lang="en-US" sz="24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Error and exact-count reliability</a:t>
            </a:r>
            <a:endParaRPr lang="en-US" sz="1000"/>
          </a:p>
        </p:txBody>
      </p:sp>
      <p:sp>
        <p:nvSpPr>
          <p:cNvPr id="8" name="Footer Left"/>
          <p:cNvSpPr txBox="1"/>
          <p:nvPr/>
        </p:nvSpPr>
        <p:spPr>
          <a:xfrm>
            <a:off x="502920" y="6446520"/>
            <a:ext cx="45720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Speaker: Member 1</a:t>
            </a:r>
            <a:endParaRPr lang="en-US" sz="900"/>
          </a:p>
        </p:txBody>
      </p:sp>
      <p:sp>
        <p:nvSpPr>
          <p:cNvPr id="9" name="Footer Right"/>
          <p:cNvSpPr txBox="1"/>
          <p:nvPr/>
        </p:nvSpPr>
        <p:spPr>
          <a:xfrm>
            <a:off x="6446520" y="6446520"/>
            <a:ext cx="52578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Exercise Repetition Counting from Video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Title"/>
          <p:cNvSpPr txBox="1"/>
          <p:nvPr/>
        </p:nvSpPr>
        <p:spPr>
          <a:xfrm>
            <a:off x="502920" y="256032"/>
            <a:ext cx="106984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700" b="1">
                <a:solidFill>
                  <a:srgbClr val="17212B"/>
                </a:solidFill>
                <a:latin typeface="Aptos"/>
              </a:rPr>
              <a:t>Approach And System Design</a:t>
            </a:r>
            <a:endParaRPr lang="en-US" sz="2700"/>
          </a:p>
        </p:txBody>
      </p:sp>
      <p:sp>
        <p:nvSpPr>
          <p:cNvPr id="2" name="Slide Subtitle"/>
          <p:cNvSpPr txBox="1"/>
          <p:nvPr/>
        </p:nvSpPr>
        <p:spPr>
          <a:xfrm>
            <a:off x="521207" y="749808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A routed architecture selected by validation evidence.</a:t>
            </a:r>
            <a:endParaRPr lang="en-US" sz="1200"/>
          </a:p>
        </p:txBody>
      </p:sp>
      <p:sp>
        <p:nvSpPr>
          <p:cNvPr id="3" name="Divider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4" name="Design Bullets"/>
          <p:cNvSpPr txBox="1"/>
          <p:nvPr/>
        </p:nvSpPr>
        <p:spPr>
          <a:xfrm>
            <a:off x="594360" y="1325880"/>
            <a:ext cx="2971800" cy="43434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700" b="1">
                <a:solidFill>
                  <a:srgbClr val="17212B"/>
                </a:solidFill>
                <a:latin typeface="Aptos"/>
              </a:rPr>
              <a:t>Design choices</a:t>
            </a:r>
            <a:endParaRPr lang="en-US" sz="17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YOLO11n-pose for 17-keypoint pose extraction.</a:t>
            </a:r>
            <a:endParaRPr lang="en-US" sz="12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Normalized pose sequences for shared temporal modeling.</a:t>
            </a:r>
            <a:endParaRPr lang="en-US" sz="12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Squat-specific engineered pose features.</a:t>
            </a:r>
            <a:endParaRPr lang="en-US" sz="12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Frozen ResNet18 RGB features for push-up.</a:t>
            </a:r>
            <a:endParaRPr lang="en-US" sz="12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TCN heads for scalar count regression.</a:t>
            </a:r>
            <a:endParaRPr lang="en-US" sz="12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Exercise label routes to the selected branch.</a:t>
            </a:r>
            <a:endParaRPr lang="en-US" sz="1200"/>
          </a:p>
        </p:txBody>
      </p:sp>
      <p:pic>
        <p:nvPicPr>
          <p:cNvPr id="5" name="figure_5_routed_architecture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234440"/>
            <a:ext cx="7818120" cy="4434840"/>
          </a:xfrm>
          <a:prstGeom prst="rect">
            <a:avLst/>
          </a:prstGeom>
        </p:spPr>
      </p:pic>
      <p:sp>
        <p:nvSpPr>
          <p:cNvPr id="6" name="Footer Left"/>
          <p:cNvSpPr txBox="1"/>
          <p:nvPr/>
        </p:nvSpPr>
        <p:spPr>
          <a:xfrm>
            <a:off x="502920" y="6446520"/>
            <a:ext cx="45720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Speaker: Member 2</a:t>
            </a:r>
            <a:endParaRPr lang="en-US" sz="900"/>
          </a:p>
        </p:txBody>
      </p:sp>
      <p:sp>
        <p:nvSpPr>
          <p:cNvPr id="7" name="Footer Right"/>
          <p:cNvSpPr txBox="1"/>
          <p:nvPr/>
        </p:nvSpPr>
        <p:spPr>
          <a:xfrm>
            <a:off x="6446520" y="6446520"/>
            <a:ext cx="52578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Visualization: figure_5_routed_architecture.svg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Title"/>
          <p:cNvSpPr txBox="1"/>
          <p:nvPr/>
        </p:nvSpPr>
        <p:spPr>
          <a:xfrm>
            <a:off x="502920" y="256032"/>
            <a:ext cx="106984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700" b="1">
                <a:solidFill>
                  <a:srgbClr val="17212B"/>
                </a:solidFill>
                <a:latin typeface="Aptos"/>
              </a:rPr>
              <a:t>Architecture Exploration</a:t>
            </a:r>
            <a:endParaRPr lang="en-US" sz="2700"/>
          </a:p>
        </p:txBody>
      </p:sp>
      <p:sp>
        <p:nvSpPr>
          <p:cNvPr id="2" name="Slide Subtitle"/>
          <p:cNvSpPr txBox="1"/>
          <p:nvPr/>
        </p:nvSpPr>
        <p:spPr>
          <a:xfrm>
            <a:off x="521207" y="749808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Experiments show the best representation depends on the exercise.</a:t>
            </a:r>
            <a:endParaRPr lang="en-US" sz="1200"/>
          </a:p>
        </p:txBody>
      </p:sp>
      <p:sp>
        <p:nvSpPr>
          <p:cNvPr id="3" name="Divider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pic>
        <p:nvPicPr>
          <p:cNvPr id="4" name="figure_2_architecture_mae_heatmap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40"/>
            <a:ext cx="10652760" cy="4754880"/>
          </a:xfrm>
          <a:prstGeom prst="rect">
            <a:avLst/>
          </a:prstGeom>
        </p:spPr>
      </p:pic>
      <p:sp>
        <p:nvSpPr>
          <p:cNvPr id="5" name="Footer Left"/>
          <p:cNvSpPr txBox="1"/>
          <p:nvPr/>
        </p:nvSpPr>
        <p:spPr>
          <a:xfrm>
            <a:off x="502920" y="6446520"/>
            <a:ext cx="45720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Speaker: Member 2</a:t>
            </a:r>
            <a:endParaRPr lang="en-US" sz="900"/>
          </a:p>
        </p:txBody>
      </p:sp>
      <p:sp>
        <p:nvSpPr>
          <p:cNvPr id="6" name="Footer Right"/>
          <p:cNvSpPr txBox="1"/>
          <p:nvPr/>
        </p:nvSpPr>
        <p:spPr>
          <a:xfrm>
            <a:off x="6446520" y="6446520"/>
            <a:ext cx="52578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Visualization: figure_2_architecture_mae_heatmap.svg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Title"/>
          <p:cNvSpPr txBox="1"/>
          <p:nvPr/>
        </p:nvSpPr>
        <p:spPr>
          <a:xfrm>
            <a:off x="502920" y="256032"/>
            <a:ext cx="106984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700" b="1">
                <a:solidFill>
                  <a:srgbClr val="17212B"/>
                </a:solidFill>
                <a:latin typeface="Aptos"/>
              </a:rPr>
              <a:t>Demo Of The Implementation</a:t>
            </a:r>
            <a:endParaRPr lang="en-US" sz="2700"/>
          </a:p>
        </p:txBody>
      </p:sp>
      <p:sp>
        <p:nvSpPr>
          <p:cNvPr id="2" name="Slide Subtitle"/>
          <p:cNvSpPr txBox="1"/>
          <p:nvPr/>
        </p:nvSpPr>
        <p:spPr>
          <a:xfrm>
            <a:off x="521207" y="749808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The packaged runtime prototype focuses on the strongest branch: squat counting.</a:t>
            </a:r>
            <a:endParaRPr lang="en-US" sz="1200"/>
          </a:p>
        </p:txBody>
      </p:sp>
      <p:sp>
        <p:nvSpPr>
          <p:cNvPr id="3" name="Divider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4" name="Demo Input"/>
          <p:cNvSpPr txBox="1"/>
          <p:nvPr/>
        </p:nvSpPr>
        <p:spPr>
          <a:xfrm>
            <a:off x="731520" y="1417320"/>
            <a:ext cx="1828800" cy="685800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4477AA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600" b="1">
                <a:solidFill>
                  <a:srgbClr val="17212B"/>
                </a:solidFill>
                <a:latin typeface="Aptos"/>
              </a:rPr>
              <a:t>Input video</a:t>
            </a:r>
            <a:endParaRPr lang="en-US" sz="16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Workout clip</a:t>
            </a:r>
            <a:endParaRPr lang="en-US" sz="1000"/>
          </a:p>
        </p:txBody>
      </p:sp>
      <p:sp>
        <p:nvSpPr>
          <p:cNvPr id="5" name="Demo Pose"/>
          <p:cNvSpPr txBox="1"/>
          <p:nvPr/>
        </p:nvSpPr>
        <p:spPr>
          <a:xfrm>
            <a:off x="3017520" y="1417320"/>
            <a:ext cx="1828800" cy="685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600" b="1">
                <a:solidFill>
                  <a:srgbClr val="17212B"/>
                </a:solidFill>
                <a:latin typeface="Aptos"/>
              </a:rPr>
              <a:t>YOLO pose</a:t>
            </a:r>
            <a:endParaRPr lang="en-US" sz="16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17 keypoints/frame</a:t>
            </a:r>
            <a:endParaRPr lang="en-US" sz="1000"/>
          </a:p>
        </p:txBody>
      </p:sp>
      <p:sp>
        <p:nvSpPr>
          <p:cNvPr id="6" name="Demo Features"/>
          <p:cNvSpPr txBox="1"/>
          <p:nvPr/>
        </p:nvSpPr>
        <p:spPr>
          <a:xfrm>
            <a:off x="5303520" y="1417320"/>
            <a:ext cx="1828800" cy="685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600" b="1">
                <a:solidFill>
                  <a:srgbClr val="17212B"/>
                </a:solidFill>
                <a:latin typeface="Aptos"/>
              </a:rPr>
              <a:t>Squat features</a:t>
            </a:r>
            <a:endParaRPr lang="en-US" sz="16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Knee flexion, hip drop</a:t>
            </a:r>
            <a:endParaRPr lang="en-US" sz="1000"/>
          </a:p>
        </p:txBody>
      </p:sp>
      <p:sp>
        <p:nvSpPr>
          <p:cNvPr id="7" name="Demo Model"/>
          <p:cNvSpPr txBox="1"/>
          <p:nvPr/>
        </p:nvSpPr>
        <p:spPr>
          <a:xfrm>
            <a:off x="7589520" y="1417320"/>
            <a:ext cx="1828800" cy="685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600" b="1">
                <a:solidFill>
                  <a:srgbClr val="17212B"/>
                </a:solidFill>
                <a:latin typeface="Aptos"/>
              </a:rPr>
              <a:t>FSM / TCN</a:t>
            </a:r>
            <a:endParaRPr lang="en-US" sz="16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Temporal count model</a:t>
            </a:r>
            <a:endParaRPr lang="en-US" sz="1000"/>
          </a:p>
        </p:txBody>
      </p:sp>
      <p:sp>
        <p:nvSpPr>
          <p:cNvPr id="8" name="Demo Count"/>
          <p:cNvSpPr txBox="1"/>
          <p:nvPr/>
        </p:nvSpPr>
        <p:spPr>
          <a:xfrm>
            <a:off x="9875520" y="1417320"/>
            <a:ext cx="1554480" cy="685800"/>
          </a:xfrm>
          <a:prstGeom prst="roundRect">
            <a:avLst/>
          </a:prstGeom>
          <a:solidFill>
            <a:srgbClr val="EAF8EE"/>
          </a:solidFill>
          <a:ln w="9525">
            <a:solidFill>
              <a:srgbClr val="228833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600" b="1">
                <a:solidFill>
                  <a:srgbClr val="17212B"/>
                </a:solidFill>
                <a:latin typeface="Aptos"/>
              </a:rPr>
              <a:t>Count</a:t>
            </a:r>
            <a:endParaRPr lang="en-US" sz="16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Predicted reps</a:t>
            </a:r>
            <a:endParaRPr lang="en-US" sz="1000"/>
          </a:p>
        </p:txBody>
      </p:sp>
      <p:cxnSp>
        <p:nvCxnSpPr>
          <p:cNvPr id="9" name="Connector 9"/>
          <p:cNvCxnSpPr/>
          <p:nvPr/>
        </p:nvCxnSpPr>
        <p:spPr>
          <a:xfrm>
            <a:off x="2560320" y="1755648"/>
            <a:ext cx="457200" cy="0"/>
          </a:xfrm>
          <a:prstGeom prst="line">
            <a:avLst/>
          </a:prstGeom>
          <a:ln w="19050">
            <a:solidFill>
              <a:srgbClr val="52606D"/>
            </a:solidFill>
          </a:ln>
        </p:spPr>
      </p:cxnSp>
      <p:cxnSp>
        <p:nvCxnSpPr>
          <p:cNvPr id="10" name="Connector 10"/>
          <p:cNvCxnSpPr/>
          <p:nvPr/>
        </p:nvCxnSpPr>
        <p:spPr>
          <a:xfrm>
            <a:off x="4846320" y="1755648"/>
            <a:ext cx="457200" cy="0"/>
          </a:xfrm>
          <a:prstGeom prst="line">
            <a:avLst/>
          </a:prstGeom>
          <a:ln w="19050">
            <a:solidFill>
              <a:srgbClr val="52606D"/>
            </a:solidFill>
          </a:ln>
        </p:spPr>
      </p:cxnSp>
      <p:cxnSp>
        <p:nvCxnSpPr>
          <p:cNvPr id="11" name="Connector 11"/>
          <p:cNvCxnSpPr/>
          <p:nvPr/>
        </p:nvCxnSpPr>
        <p:spPr>
          <a:xfrm>
            <a:off x="7132320" y="1755648"/>
            <a:ext cx="457200" cy="0"/>
          </a:xfrm>
          <a:prstGeom prst="line">
            <a:avLst/>
          </a:prstGeom>
          <a:ln w="19050">
            <a:solidFill>
              <a:srgbClr val="52606D"/>
            </a:solidFill>
          </a:ln>
        </p:spPr>
      </p:cxnSp>
      <p:cxnSp>
        <p:nvCxnSpPr>
          <p:cNvPr id="12" name="Connector 12"/>
          <p:cNvCxnSpPr/>
          <p:nvPr/>
        </p:nvCxnSpPr>
        <p:spPr>
          <a:xfrm>
            <a:off x="9418320" y="1755648"/>
            <a:ext cx="457200" cy="0"/>
          </a:xfrm>
          <a:prstGeom prst="line">
            <a:avLst/>
          </a:prstGeom>
          <a:ln w="19050">
            <a:solidFill>
              <a:srgbClr val="52606D"/>
            </a:solidFill>
          </a:ln>
        </p:spPr>
      </p:cxnSp>
      <p:sp>
        <p:nvSpPr>
          <p:cNvPr id="13" name="Demo bullets"/>
          <p:cNvSpPr txBox="1"/>
          <p:nvPr/>
        </p:nvSpPr>
        <p:spPr>
          <a:xfrm>
            <a:off x="868680" y="2788920"/>
            <a:ext cx="4754880" cy="25603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800" b="1">
                <a:solidFill>
                  <a:srgbClr val="17212B"/>
                </a:solidFill>
                <a:latin typeface="Aptos"/>
              </a:rPr>
              <a:t>What the demo shows</a:t>
            </a:r>
            <a:endParaRPr lang="en-US" sz="1800"/>
          </a:p>
          <a:p>
            <a:pPr marL="285750" indent="-171450">
              <a:buChar char="•"/>
            </a:pPr>
            <a:r>
              <a:rPr lang="en-US" sz="1300">
                <a:solidFill>
                  <a:srgbClr val="17212B"/>
                </a:solidFill>
                <a:latin typeface="Aptos"/>
              </a:rPr>
              <a:t>Video is converted into pose-derived temporal signals.</a:t>
            </a:r>
            <a:endParaRPr lang="en-US" sz="1300"/>
          </a:p>
          <a:p>
            <a:pPr marL="285750" indent="-171450">
              <a:buChar char="•"/>
            </a:pPr>
            <a:r>
              <a:rPr lang="en-US" sz="1300">
                <a:solidFill>
                  <a:srgbClr val="17212B"/>
                </a:solidFill>
                <a:latin typeface="Aptos"/>
              </a:rPr>
              <a:t>FSM provides an interpretable baseline with movement states.</a:t>
            </a:r>
            <a:endParaRPr lang="en-US" sz="1300"/>
          </a:p>
          <a:p>
            <a:pPr marL="285750" indent="-171450">
              <a:buChar char="•"/>
            </a:pPr>
            <a:r>
              <a:rPr lang="en-US" sz="1300">
                <a:solidFill>
                  <a:srgbClr val="17212B"/>
                </a:solidFill>
                <a:latin typeface="Aptos"/>
              </a:rPr>
              <a:t>TCN learns the mapping from feature sequence to repetition count.</a:t>
            </a:r>
            <a:endParaRPr lang="en-US" sz="1300"/>
          </a:p>
          <a:p>
            <a:pPr marL="285750" indent="-171450">
              <a:buChar char="•"/>
            </a:pPr>
            <a:r>
              <a:rPr lang="en-US" sz="1300">
                <a:solidFill>
                  <a:srgbClr val="17212B"/>
                </a:solidFill>
                <a:latin typeface="Aptos"/>
              </a:rPr>
              <a:t>The live path is squat-only; broader routing is validated offline.</a:t>
            </a:r>
            <a:endParaRPr lang="en-US" sz="1300"/>
          </a:p>
        </p:txBody>
      </p:sp>
      <p:sp>
        <p:nvSpPr>
          <p:cNvPr id="14" name="Demo narrative"/>
          <p:cNvSpPr txBox="1"/>
          <p:nvPr/>
        </p:nvSpPr>
        <p:spPr>
          <a:xfrm>
            <a:off x="6172200" y="2971800"/>
            <a:ext cx="4983480" cy="2148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800" b="1">
                <a:solidFill>
                  <a:srgbClr val="17212B"/>
                </a:solidFill>
                <a:latin typeface="Aptos"/>
              </a:rPr>
              <a:t>Demo narrative</a:t>
            </a:r>
            <a:endParaRPr lang="en-US" sz="1800"/>
          </a:p>
          <a:p>
            <a:pPr/>
            <a:r>
              <a:rPr lang="en-US" sz="1600">
                <a:solidFill>
                  <a:srgbClr val="52606D"/>
                </a:solidFill>
                <a:latin typeface="Aptos"/>
              </a:rPr>
              <a:t>The model is not judging one frame at a time. It uses motion across the sequence, which is essential for counting repetitions.</a:t>
            </a:r>
            <a:endParaRPr lang="en-US" sz="1600"/>
          </a:p>
        </p:txBody>
      </p:sp>
      <p:sp>
        <p:nvSpPr>
          <p:cNvPr id="15" name="Footer Left"/>
          <p:cNvSpPr txBox="1"/>
          <p:nvPr/>
        </p:nvSpPr>
        <p:spPr>
          <a:xfrm>
            <a:off x="502920" y="6446520"/>
            <a:ext cx="45720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Speaker: Member 3</a:t>
            </a:r>
            <a:endParaRPr lang="en-US" sz="900"/>
          </a:p>
        </p:txBody>
      </p:sp>
      <p:sp>
        <p:nvSpPr>
          <p:cNvPr id="16" name="Footer Right"/>
          <p:cNvSpPr txBox="1"/>
          <p:nvPr/>
        </p:nvSpPr>
        <p:spPr>
          <a:xfrm>
            <a:off x="6446520" y="6446520"/>
            <a:ext cx="52578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Exercise Repetition Counting from Video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Title"/>
          <p:cNvSpPr txBox="1"/>
          <p:nvPr/>
        </p:nvSpPr>
        <p:spPr>
          <a:xfrm>
            <a:off x="502920" y="256032"/>
            <a:ext cx="106984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700" b="1">
                <a:solidFill>
                  <a:srgbClr val="17212B"/>
                </a:solidFill>
                <a:latin typeface="Aptos"/>
              </a:rPr>
              <a:t>Final Routed Results</a:t>
            </a:r>
            <a:endParaRPr lang="en-US" sz="2700"/>
          </a:p>
        </p:txBody>
      </p:sp>
      <p:sp>
        <p:nvSpPr>
          <p:cNvPr id="2" name="Slide Subtitle"/>
          <p:cNvSpPr txBox="1"/>
          <p:nvPr/>
        </p:nvSpPr>
        <p:spPr>
          <a:xfrm>
            <a:off x="521207" y="749808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Reportable branches with 95% bootstrap confidence intervals.</a:t>
            </a:r>
            <a:endParaRPr lang="en-US" sz="1200"/>
          </a:p>
        </p:txBody>
      </p:sp>
      <p:sp>
        <p:nvSpPr>
          <p:cNvPr id="3" name="Divider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pic>
        <p:nvPicPr>
          <p:cNvPr id="4" name="figure_1_routed_performance_ci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44200" cy="4709160"/>
          </a:xfrm>
          <a:prstGeom prst="rect">
            <a:avLst/>
          </a:prstGeom>
        </p:spPr>
      </p:pic>
      <p:sp>
        <p:nvSpPr>
          <p:cNvPr id="5" name="Footer Left"/>
          <p:cNvSpPr txBox="1"/>
          <p:nvPr/>
        </p:nvSpPr>
        <p:spPr>
          <a:xfrm>
            <a:off x="502920" y="6446520"/>
            <a:ext cx="45720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Speaker: Member 4</a:t>
            </a:r>
            <a:endParaRPr lang="en-US" sz="900"/>
          </a:p>
        </p:txBody>
      </p:sp>
      <p:sp>
        <p:nvSpPr>
          <p:cNvPr id="6" name="Footer Right"/>
          <p:cNvSpPr txBox="1"/>
          <p:nvPr/>
        </p:nvSpPr>
        <p:spPr>
          <a:xfrm>
            <a:off x="6446520" y="6446520"/>
            <a:ext cx="52578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Visualization: figure_1_routed_performance_ci.svg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Title"/>
          <p:cNvSpPr txBox="1"/>
          <p:nvPr/>
        </p:nvSpPr>
        <p:spPr>
          <a:xfrm>
            <a:off x="502920" y="256032"/>
            <a:ext cx="106984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700" b="1">
                <a:solidFill>
                  <a:srgbClr val="17212B"/>
                </a:solidFill>
                <a:latin typeface="Aptos"/>
              </a:rPr>
              <a:t>Metric Tradeoff And Model Selection</a:t>
            </a:r>
            <a:endParaRPr lang="en-US" sz="2700"/>
          </a:p>
        </p:txBody>
      </p:sp>
      <p:sp>
        <p:nvSpPr>
          <p:cNvPr id="2" name="Slide Subtitle"/>
          <p:cNvSpPr txBox="1"/>
          <p:nvPr/>
        </p:nvSpPr>
        <p:spPr>
          <a:xfrm>
            <a:off x="521207" y="749808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The selected model is not always the lowest-MAE model.</a:t>
            </a:r>
            <a:endParaRPr lang="en-US" sz="1200"/>
          </a:p>
        </p:txBody>
      </p:sp>
      <p:sp>
        <p:nvSpPr>
          <p:cNvPr id="3" name="Divider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pic>
        <p:nvPicPr>
          <p:cNvPr id="4" name="figure_3_mae_within1_tradeoff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789920" cy="4709160"/>
          </a:xfrm>
          <a:prstGeom prst="rect">
            <a:avLst/>
          </a:prstGeom>
        </p:spPr>
      </p:pic>
      <p:sp>
        <p:nvSpPr>
          <p:cNvPr id="5" name="Footer Left"/>
          <p:cNvSpPr txBox="1"/>
          <p:nvPr/>
        </p:nvSpPr>
        <p:spPr>
          <a:xfrm>
            <a:off x="502920" y="6446520"/>
            <a:ext cx="45720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Speaker: Member 4</a:t>
            </a:r>
            <a:endParaRPr lang="en-US" sz="900"/>
          </a:p>
        </p:txBody>
      </p:sp>
      <p:sp>
        <p:nvSpPr>
          <p:cNvPr id="6" name="Footer Right"/>
          <p:cNvSpPr txBox="1"/>
          <p:nvPr/>
        </p:nvSpPr>
        <p:spPr>
          <a:xfrm>
            <a:off x="6446520" y="6446520"/>
            <a:ext cx="52578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Visualization: figure_3_mae_within1_tradeoff.svg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Title"/>
          <p:cNvSpPr txBox="1"/>
          <p:nvPr/>
        </p:nvSpPr>
        <p:spPr>
          <a:xfrm>
            <a:off x="502920" y="256032"/>
            <a:ext cx="106984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700" b="1">
                <a:solidFill>
                  <a:srgbClr val="17212B"/>
                </a:solidFill>
                <a:latin typeface="Aptos"/>
              </a:rPr>
              <a:t>Challenges And Lessons Learned</a:t>
            </a:r>
            <a:endParaRPr lang="en-US" sz="2700"/>
          </a:p>
        </p:txBody>
      </p:sp>
      <p:sp>
        <p:nvSpPr>
          <p:cNvPr id="2" name="Slide Subtitle"/>
          <p:cNvSpPr txBox="1"/>
          <p:nvPr/>
        </p:nvSpPr>
        <p:spPr>
          <a:xfrm>
            <a:off x="521207" y="749808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Complexity helped only when it matched the visual signal.</a:t>
            </a:r>
            <a:endParaRPr lang="en-US" sz="1200"/>
          </a:p>
        </p:txBody>
      </p:sp>
      <p:sp>
        <p:nvSpPr>
          <p:cNvPr id="3" name="Divider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4" name="Lessons bullets"/>
          <p:cNvSpPr txBox="1"/>
          <p:nvPr/>
        </p:nvSpPr>
        <p:spPr>
          <a:xfrm>
            <a:off x="685800" y="1325880"/>
            <a:ext cx="3246120" cy="45262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9E2EC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700" b="1">
                <a:solidFill>
                  <a:srgbClr val="17212B"/>
                </a:solidFill>
                <a:latin typeface="Aptos"/>
              </a:rPr>
              <a:t>Challenges</a:t>
            </a:r>
            <a:endParaRPr lang="en-US" sz="17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Pose noise and occlusion affect keypoint reliability.</a:t>
            </a:r>
            <a:endParaRPr lang="en-US" sz="12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Small validation subsets create wide confidence intervals.</a:t>
            </a:r>
            <a:endParaRPr lang="en-US" sz="12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Exercise motion patterns require different representations.</a:t>
            </a:r>
            <a:endParaRPr lang="en-US" sz="12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MAE alone can hide poor exact-count reliability.</a:t>
            </a:r>
            <a:endParaRPr lang="en-US" sz="1200"/>
          </a:p>
          <a:p>
            <a:pPr/>
            <a:r>
              <a:rPr lang="en-US" sz="1700" b="1">
                <a:solidFill>
                  <a:srgbClr val="17212B"/>
                </a:solidFill>
                <a:latin typeface="Aptos"/>
              </a:rPr>
              <a:t>Lessons</a:t>
            </a:r>
            <a:endParaRPr lang="en-US" sz="17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Start from the data signal before adding model complexity.</a:t>
            </a:r>
            <a:endParaRPr lang="en-US" sz="1200"/>
          </a:p>
          <a:p>
            <a:pPr marL="285750" indent="-171450">
              <a:buChar char="•"/>
            </a:pPr>
            <a:r>
              <a:rPr lang="en-US" sz="1200">
                <a:solidFill>
                  <a:srgbClr val="17212B"/>
                </a:solidFill>
                <a:latin typeface="Aptos"/>
              </a:rPr>
              <a:t>Keep negative experiments; they justify architecture decisions.</a:t>
            </a:r>
            <a:endParaRPr lang="en-US" sz="1200"/>
          </a:p>
        </p:txBody>
      </p:sp>
      <p:pic>
        <p:nvPicPr>
          <p:cNvPr id="5" name="figure_4_per_exercise_mae_comparison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1234440"/>
            <a:ext cx="7178040" cy="4617720"/>
          </a:xfrm>
          <a:prstGeom prst="rect">
            <a:avLst/>
          </a:prstGeom>
        </p:spPr>
      </p:pic>
      <p:sp>
        <p:nvSpPr>
          <p:cNvPr id="6" name="Footer Left"/>
          <p:cNvSpPr txBox="1"/>
          <p:nvPr/>
        </p:nvSpPr>
        <p:spPr>
          <a:xfrm>
            <a:off x="502920" y="6446520"/>
            <a:ext cx="45720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Speaker: Member 4</a:t>
            </a:r>
            <a:endParaRPr lang="en-US" sz="900"/>
          </a:p>
        </p:txBody>
      </p:sp>
      <p:sp>
        <p:nvSpPr>
          <p:cNvPr id="7" name="Footer Right"/>
          <p:cNvSpPr txBox="1"/>
          <p:nvPr/>
        </p:nvSpPr>
        <p:spPr>
          <a:xfrm>
            <a:off x="6446520" y="6446520"/>
            <a:ext cx="52578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Visualization: figure_4_per_exercise_mae_comparison.svg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lide Title"/>
          <p:cNvSpPr txBox="1"/>
          <p:nvPr/>
        </p:nvSpPr>
        <p:spPr>
          <a:xfrm>
            <a:off x="502920" y="256032"/>
            <a:ext cx="106984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2700" b="1">
                <a:solidFill>
                  <a:srgbClr val="17212B"/>
                </a:solidFill>
                <a:latin typeface="Aptos"/>
              </a:rPr>
              <a:t>Closing Takeaway</a:t>
            </a:r>
            <a:endParaRPr lang="en-US" sz="2700"/>
          </a:p>
        </p:txBody>
      </p:sp>
      <p:sp>
        <p:nvSpPr>
          <p:cNvPr id="2" name="Slide Subtitle"/>
          <p:cNvSpPr txBox="1"/>
          <p:nvPr/>
        </p:nvSpPr>
        <p:spPr>
          <a:xfrm>
            <a:off x="521207" y="749808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200">
                <a:solidFill>
                  <a:srgbClr val="52606D"/>
                </a:solidFill>
                <a:latin typeface="Aptos"/>
              </a:rPr>
              <a:t>An evidence-driven computer vision system, not just a model leaderboard.</a:t>
            </a:r>
            <a:endParaRPr lang="en-US" sz="1200"/>
          </a:p>
        </p:txBody>
      </p:sp>
      <p:sp>
        <p:nvSpPr>
          <p:cNvPr id="3" name="Divider"/>
          <p:cNvSpPr/>
          <p:nvPr/>
        </p:nvSpPr>
        <p:spPr>
          <a:xfrm>
            <a:off x="502920" y="1069848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4" name="Closing bullets"/>
          <p:cNvSpPr txBox="1"/>
          <p:nvPr/>
        </p:nvSpPr>
        <p:spPr>
          <a:xfrm>
            <a:off x="868680" y="1417320"/>
            <a:ext cx="5486400" cy="35661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1900" b="1">
                <a:solidFill>
                  <a:srgbClr val="17212B"/>
                </a:solidFill>
                <a:latin typeface="Aptos"/>
              </a:rPr>
              <a:t>What we built</a:t>
            </a:r>
            <a:endParaRPr lang="en-US" sz="1900"/>
          </a:p>
          <a:p>
            <a:pPr marL="285750" indent="-171450">
              <a:buChar char="•"/>
            </a:pPr>
            <a:r>
              <a:rPr lang="en-US" sz="1400">
                <a:solidFill>
                  <a:srgbClr val="17212B"/>
                </a:solidFill>
                <a:latin typeface="Aptos"/>
              </a:rPr>
              <a:t>End-to-end workflow: data preparation, pose extraction, feature construction, model training, evaluation, and demo.</a:t>
            </a:r>
            <a:endParaRPr lang="en-US" sz="1400"/>
          </a:p>
          <a:p>
            <a:pPr marL="285750" indent="-171450">
              <a:buChar char="•"/>
            </a:pPr>
            <a:r>
              <a:rPr lang="en-US" sz="1400">
                <a:solidFill>
                  <a:srgbClr val="17212B"/>
                </a:solidFill>
                <a:latin typeface="Aptos"/>
              </a:rPr>
              <a:t>Architecture evidence: pose, RGB, FSM, TCN, Transformer, and fusion were compared.</a:t>
            </a:r>
            <a:endParaRPr lang="en-US" sz="1400"/>
          </a:p>
          <a:p>
            <a:pPr marL="285750" indent="-171450">
              <a:buChar char="•"/>
            </a:pPr>
            <a:r>
              <a:rPr lang="en-US" sz="1400">
                <a:solidFill>
                  <a:srgbClr val="17212B"/>
                </a:solidFill>
                <a:latin typeface="Aptos"/>
              </a:rPr>
              <a:t>Final result: exercise-dependent routed design plus a working squat runtime prototype.</a:t>
            </a:r>
            <a:endParaRPr lang="en-US" sz="1400"/>
          </a:p>
        </p:txBody>
      </p:sp>
      <p:sp>
        <p:nvSpPr>
          <p:cNvPr id="5" name="Squat"/>
          <p:cNvSpPr txBox="1"/>
          <p:nvPr/>
        </p:nvSpPr>
        <p:spPr>
          <a:xfrm>
            <a:off x="6903720" y="1463040"/>
            <a:ext cx="3383280" cy="960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4477AA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200" b="1">
                <a:solidFill>
                  <a:srgbClr val="52606D"/>
                </a:solidFill>
                <a:latin typeface="Aptos"/>
              </a:rPr>
              <a:t>Squat</a:t>
            </a:r>
            <a:endParaRPr lang="en-US" sz="1200"/>
          </a:p>
          <a:p>
            <a:pPr/>
            <a:r>
              <a:rPr lang="en-US" sz="2400" b="1">
                <a:solidFill>
                  <a:srgbClr val="4477AA"/>
                </a:solidFill>
                <a:latin typeface="Aptos"/>
              </a:rPr>
              <a:t>2.14 MAE</a:t>
            </a:r>
            <a:endParaRPr lang="en-US" sz="24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Dedicated pose TCN</a:t>
            </a:r>
            <a:endParaRPr lang="en-US" sz="1000"/>
          </a:p>
        </p:txBody>
      </p:sp>
      <p:sp>
        <p:nvSpPr>
          <p:cNvPr id="6" name="Pull-up"/>
          <p:cNvSpPr txBox="1"/>
          <p:nvPr/>
        </p:nvSpPr>
        <p:spPr>
          <a:xfrm>
            <a:off x="6903720" y="2697480"/>
            <a:ext cx="3383280" cy="960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228833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200" b="1">
                <a:solidFill>
                  <a:srgbClr val="52606D"/>
                </a:solidFill>
                <a:latin typeface="Aptos"/>
              </a:rPr>
              <a:t>Pull-up</a:t>
            </a:r>
            <a:endParaRPr lang="en-US" sz="1200"/>
          </a:p>
          <a:p>
            <a:pPr/>
            <a:r>
              <a:rPr lang="en-US" sz="2400" b="1">
                <a:solidFill>
                  <a:srgbClr val="228833"/>
                </a:solidFill>
                <a:latin typeface="Aptos"/>
              </a:rPr>
              <a:t>4.61 MAE</a:t>
            </a:r>
            <a:endParaRPr lang="en-US" sz="24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Shared pose TCN</a:t>
            </a:r>
            <a:endParaRPr lang="en-US" sz="1000"/>
          </a:p>
        </p:txBody>
      </p:sp>
      <p:sp>
        <p:nvSpPr>
          <p:cNvPr id="7" name="Push-up"/>
          <p:cNvSpPr txBox="1"/>
          <p:nvPr/>
        </p:nvSpPr>
        <p:spPr>
          <a:xfrm>
            <a:off x="6903720" y="3931920"/>
            <a:ext cx="3383280" cy="960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CC6677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200" b="1">
                <a:solidFill>
                  <a:srgbClr val="52606D"/>
                </a:solidFill>
                <a:latin typeface="Aptos"/>
              </a:rPr>
              <a:t>Push-up</a:t>
            </a:r>
            <a:endParaRPr lang="en-US" sz="1200"/>
          </a:p>
          <a:p>
            <a:pPr/>
            <a:r>
              <a:rPr lang="en-US" sz="2400" b="1">
                <a:solidFill>
                  <a:srgbClr val="CC6677"/>
                </a:solidFill>
                <a:latin typeface="Aptos"/>
              </a:rPr>
              <a:t>6.60 MAE</a:t>
            </a:r>
            <a:endParaRPr lang="en-US" sz="2400"/>
          </a:p>
          <a:p>
            <a:pPr/>
            <a:r>
              <a:rPr lang="en-US" sz="1000">
                <a:solidFill>
                  <a:srgbClr val="52606D"/>
                </a:solidFill>
                <a:latin typeface="Aptos"/>
              </a:rPr>
              <a:t>RGB ResNet18 + TCN</a:t>
            </a:r>
            <a:endParaRPr lang="en-US" sz="1000"/>
          </a:p>
        </p:txBody>
      </p:sp>
      <p:sp>
        <p:nvSpPr>
          <p:cNvPr id="8" name="Main message"/>
          <p:cNvSpPr txBox="1"/>
          <p:nvPr/>
        </p:nvSpPr>
        <p:spPr>
          <a:xfrm>
            <a:off x="914400" y="5623560"/>
            <a:ext cx="10241280" cy="411480"/>
          </a:xfrm>
          <a:prstGeom prst="roundRect">
            <a:avLst/>
          </a:prstGeom>
          <a:solidFill>
            <a:srgbClr val="EAF8EE"/>
          </a:solidFill>
          <a:ln w="9525">
            <a:solidFill>
              <a:srgbClr val="228833"/>
            </a:solidFill>
          </a:ln>
        </p:spPr>
        <p:txBody>
          <a:bodyPr wrap="square" lIns="91440" tIns="68580" rIns="91440" bIns="68580"/>
          <a:lstStyle/>
          <a:p>
            <a:pPr/>
            <a:r>
              <a:rPr lang="en-US" sz="1600" b="1">
                <a:solidFill>
                  <a:srgbClr val="17212B"/>
                </a:solidFill>
                <a:latin typeface="Aptos"/>
              </a:rPr>
              <a:t>Main message: exercise repetition counting is best handled as exercise-dependent routing, because the reliable visual signal changes by movement type.</a:t>
            </a:r>
            <a:endParaRPr lang="en-US" sz="1600"/>
          </a:p>
        </p:txBody>
      </p:sp>
      <p:sp>
        <p:nvSpPr>
          <p:cNvPr id="9" name="Footer Left"/>
          <p:cNvSpPr txBox="1"/>
          <p:nvPr/>
        </p:nvSpPr>
        <p:spPr>
          <a:xfrm>
            <a:off x="502920" y="6446520"/>
            <a:ext cx="45720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Speaker: Team</a:t>
            </a:r>
            <a:endParaRPr lang="en-US" sz="900"/>
          </a:p>
        </p:txBody>
      </p:sp>
      <p:sp>
        <p:nvSpPr>
          <p:cNvPr id="10" name="Footer Right"/>
          <p:cNvSpPr txBox="1"/>
          <p:nvPr/>
        </p:nvSpPr>
        <p:spPr>
          <a:xfrm>
            <a:off x="6446520" y="6446520"/>
            <a:ext cx="5257800" cy="22860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pPr/>
            <a:r>
              <a:rPr lang="en-US" sz="900">
                <a:solidFill>
                  <a:srgbClr val="52606D"/>
                </a:solidFill>
                <a:latin typeface="Aptos"/>
              </a:rPr>
              <a:t>Exercise Repetition Counting from Video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ercise Counting Theme">
  <a:themeElements>
    <a:clrScheme name="Custom">
      <a:dk1>
        <a:srgbClr val="17212B"/>
      </a:dk1>
      <a:lt1>
        <a:srgbClr val="FFFFFF"/>
      </a:lt1>
      <a:dk2>
        <a:srgbClr val="52606D"/>
      </a:dk2>
      <a:lt2>
        <a:srgbClr val="F8FAFC"/>
      </a:lt2>
      <a:accent1>
        <a:srgbClr val="4477AA"/>
      </a:accent1>
      <a:accent2>
        <a:srgbClr val="228833"/>
      </a:accent2>
      <a:accent3>
        <a:srgbClr val="CC6677"/>
      </a:accent3>
      <a:accent4>
        <a:srgbClr val="D97706"/>
      </a:accent4>
      <a:accent5>
        <a:srgbClr val="4F46E5"/>
      </a:accent5>
      <a:accent6>
        <a:srgbClr val="0891B2"/>
      </a:accent6>
      <a:hlink>
        <a:srgbClr val="2563EB"/>
      </a:hlink>
      <a:folHlink>
        <a:srgbClr val="6D28D9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ustom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  <Company>Computer Vision Final Project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Repetition Counting From Video</dc:title>
  <dc:subject>Computer vision project presentation</dc:subject>
  <dc:creator>Codex</dc:creator>
  <cp:lastModifiedBy>Codex</cp:lastModifiedBy>
  <dcterms:created xsi:type="dcterms:W3CDTF">2026-04-21T01:32:29Z</dcterms:created>
  <dcterms:modified xsi:type="dcterms:W3CDTF">2026-04-21T01:32:29Z</dcterms:modified>
</cp:coreProperties>
</file>